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Economica"/>
      <p:regular r:id="rId34"/>
      <p:bold r:id="rId35"/>
      <p:italic r:id="rId36"/>
      <p:boldItalic r:id="rId37"/>
    </p:embeddedFont>
    <p:embeddedFont>
      <p:font typeface="Amatic SC"/>
      <p:regular r:id="rId38"/>
      <p:bold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20" Type="http://schemas.openxmlformats.org/officeDocument/2006/relationships/slide" Target="slides/slide15.xml"/><Relationship Id="rId42" Type="http://schemas.openxmlformats.org/officeDocument/2006/relationships/font" Target="fonts/OpenSans-italic.fntdata"/><Relationship Id="rId41" Type="http://schemas.openxmlformats.org/officeDocument/2006/relationships/font" Target="fonts/Open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Economica-bold.fntdata"/><Relationship Id="rId12" Type="http://schemas.openxmlformats.org/officeDocument/2006/relationships/slide" Target="slides/slide7.xml"/><Relationship Id="rId34" Type="http://schemas.openxmlformats.org/officeDocument/2006/relationships/font" Target="fonts/Economica-regular.fntdata"/><Relationship Id="rId15" Type="http://schemas.openxmlformats.org/officeDocument/2006/relationships/slide" Target="slides/slide10.xml"/><Relationship Id="rId37" Type="http://schemas.openxmlformats.org/officeDocument/2006/relationships/font" Target="fonts/Economica-boldItalic.fntdata"/><Relationship Id="rId14" Type="http://schemas.openxmlformats.org/officeDocument/2006/relationships/slide" Target="slides/slide9.xml"/><Relationship Id="rId36" Type="http://schemas.openxmlformats.org/officeDocument/2006/relationships/font" Target="fonts/Economica-italic.fntdata"/><Relationship Id="rId17" Type="http://schemas.openxmlformats.org/officeDocument/2006/relationships/slide" Target="slides/slide12.xml"/><Relationship Id="rId39" Type="http://schemas.openxmlformats.org/officeDocument/2006/relationships/font" Target="fonts/AmaticSC-bold.fntdata"/><Relationship Id="rId16" Type="http://schemas.openxmlformats.org/officeDocument/2006/relationships/slide" Target="slides/slide11.xml"/><Relationship Id="rId38" Type="http://schemas.openxmlformats.org/officeDocument/2006/relationships/font" Target="fonts/AmaticSC-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499e21f1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499e21f1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499e21f1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499e21f1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4e1eec0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4e1eec0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499e21f1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b499e21f1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499e21f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499e21f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4afd3338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4afd3338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4afd3338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4afd3338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499e21f1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499e21f1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4afd3338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4afd3338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499e21f1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499e21f1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4e1eec01a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4e1eec01a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23d2724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23d2724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499e21f1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499e21f1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4afd3338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4afd3338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4afd3338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4afd3338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499e21f1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499e21f1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499e21f1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499e21f1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499e21f1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499e21f1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499e21f1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499e21f1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499e21f1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499e21f1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499e21f1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499e21f1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499e21f1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499e21f1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499e21f1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b499e21f1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499e21f1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499e21f1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4c96462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b4c96462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499e21f1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b499e21f1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499e21f1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b499e21f1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s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3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sk"/>
              <a:t>SIS Exam System</a:t>
            </a:r>
            <a:endParaRPr/>
          </a:p>
          <a:p>
            <a:pPr indent="0" lvl="0" marL="0" rtl="0" algn="ctr">
              <a:spcBef>
                <a:spcPts val="0"/>
              </a:spcBef>
              <a:spcAft>
                <a:spcPts val="0"/>
              </a:spcAft>
              <a:buNone/>
            </a:pPr>
            <a:r>
              <a:rPr i="1" lang="sk" sz="3600"/>
              <a:t>by </a:t>
            </a:r>
            <a:r>
              <a:rPr i="1" lang="sk" sz="3600"/>
              <a:t>team Enrollment 2</a:t>
            </a:r>
            <a:endParaRPr i="1" sz="3600"/>
          </a:p>
        </p:txBody>
      </p:sp>
      <p:sp>
        <p:nvSpPr>
          <p:cNvPr id="63" name="Google Shape;63;p13"/>
          <p:cNvSpPr txBox="1"/>
          <p:nvPr>
            <p:ph idx="1" type="subTitle"/>
          </p:nvPr>
        </p:nvSpPr>
        <p:spPr>
          <a:xfrm>
            <a:off x="311700" y="2889950"/>
            <a:ext cx="8520600" cy="151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sk">
                <a:latin typeface="Amatic SC"/>
                <a:ea typeface="Amatic SC"/>
                <a:cs typeface="Amatic SC"/>
                <a:sym typeface="Amatic SC"/>
              </a:rPr>
              <a:t>Jakub Maťa, </a:t>
            </a:r>
            <a:r>
              <a:rPr lang="sk">
                <a:latin typeface="Amatic SC"/>
                <a:ea typeface="Amatic SC"/>
                <a:cs typeface="Amatic SC"/>
                <a:sym typeface="Amatic SC"/>
              </a:rPr>
              <a:t>Lukáš Hellesch, Viktor Závodský,</a:t>
            </a:r>
            <a:endParaRPr>
              <a:latin typeface="Amatic SC"/>
              <a:ea typeface="Amatic SC"/>
              <a:cs typeface="Amatic SC"/>
              <a:sym typeface="Amatic SC"/>
            </a:endParaRPr>
          </a:p>
          <a:p>
            <a:pPr indent="0" lvl="0" marL="0" rtl="0" algn="ctr">
              <a:spcBef>
                <a:spcPts val="0"/>
              </a:spcBef>
              <a:spcAft>
                <a:spcPts val="0"/>
              </a:spcAft>
              <a:buClr>
                <a:schemeClr val="dk1"/>
              </a:buClr>
              <a:buSzPts val="1100"/>
              <a:buFont typeface="Arial"/>
              <a:buNone/>
            </a:pPr>
            <a:r>
              <a:rPr lang="sk">
                <a:latin typeface="Amatic SC"/>
                <a:ea typeface="Amatic SC"/>
                <a:cs typeface="Amatic SC"/>
                <a:sym typeface="Amatic SC"/>
              </a:rPr>
              <a:t>Matúš Jurčák, Šimon Stehlík, </a:t>
            </a:r>
            <a:r>
              <a:rPr lang="sk">
                <a:latin typeface="Amatic SC"/>
                <a:ea typeface="Amatic SC"/>
                <a:cs typeface="Amatic SC"/>
                <a:sym typeface="Amatic SC"/>
              </a:rPr>
              <a:t>Zdeněk Bambas</a:t>
            </a:r>
            <a:endParaRPr>
              <a:latin typeface="Amatic SC"/>
              <a:ea typeface="Amatic SC"/>
              <a:cs typeface="Amatic SC"/>
              <a:sym typeface="Amatic SC"/>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sk"/>
              <a:t>Qualitative Requirement Overview</a:t>
            </a:r>
            <a:endParaRPr/>
          </a:p>
        </p:txBody>
      </p:sp>
      <p:sp>
        <p:nvSpPr>
          <p:cNvPr id="69" name="Google Shape;69;p14"/>
          <p:cNvSpPr txBox="1"/>
          <p:nvPr>
            <p:ph idx="1" type="body"/>
          </p:nvPr>
        </p:nvSpPr>
        <p:spPr>
          <a:xfrm>
            <a:off x="311700" y="1152475"/>
            <a:ext cx="8520600" cy="372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Runtime</a:t>
            </a:r>
            <a:endParaRPr/>
          </a:p>
          <a:p>
            <a:pPr indent="-342900" lvl="0" marL="457200" rtl="0" algn="l">
              <a:spcBef>
                <a:spcPts val="1200"/>
              </a:spcBef>
              <a:spcAft>
                <a:spcPts val="0"/>
              </a:spcAft>
              <a:buSzPts val="1800"/>
              <a:buAutoNum type="arabicPeriod"/>
            </a:pPr>
            <a:r>
              <a:rPr lang="sk" u="sng"/>
              <a:t>Exam DB For Students (Runtime, </a:t>
            </a:r>
            <a:r>
              <a:rPr lang="sk" u="sng"/>
              <a:t>Availability</a:t>
            </a:r>
            <a:r>
              <a:rPr lang="sk" u="sng"/>
              <a:t>)</a:t>
            </a:r>
            <a:r>
              <a:rPr lang="sk"/>
              <a:t> </a:t>
            </a:r>
            <a:r>
              <a:rPr i="1" lang="sk" sz="1318"/>
              <a:t>(Jakub Mata)</a:t>
            </a:r>
            <a:endParaRPr u="sng"/>
          </a:p>
          <a:p>
            <a:pPr indent="-342900" lvl="0" marL="457200" rtl="0" algn="l">
              <a:spcBef>
                <a:spcPts val="0"/>
              </a:spcBef>
              <a:spcAft>
                <a:spcPts val="0"/>
              </a:spcAft>
              <a:buSzPts val="1800"/>
              <a:buAutoNum type="arabicPeriod"/>
            </a:pPr>
            <a:r>
              <a:rPr lang="sk" u="sng"/>
              <a:t>Exam DB For Teacher (Runtime, </a:t>
            </a:r>
            <a:r>
              <a:rPr lang="sk" u="sng"/>
              <a:t>Availability</a:t>
            </a:r>
            <a:r>
              <a:rPr lang="sk" u="sng"/>
              <a:t>)</a:t>
            </a:r>
            <a:r>
              <a:rPr lang="sk"/>
              <a:t> </a:t>
            </a:r>
            <a:r>
              <a:rPr i="1" lang="sk" sz="1318"/>
              <a:t>(Jakub Mata)</a:t>
            </a:r>
            <a:endParaRPr u="sng"/>
          </a:p>
          <a:p>
            <a:pPr indent="-342900" lvl="0" marL="457200" rtl="0" algn="l">
              <a:spcBef>
                <a:spcPts val="0"/>
              </a:spcBef>
              <a:spcAft>
                <a:spcPts val="0"/>
              </a:spcAft>
              <a:buSzPts val="1800"/>
              <a:buAutoNum type="arabicPeriod"/>
            </a:pPr>
            <a:r>
              <a:rPr lang="sk" u="sng"/>
              <a:t>Exam </a:t>
            </a:r>
            <a:r>
              <a:rPr lang="sk" u="sng"/>
              <a:t>period</a:t>
            </a:r>
            <a:r>
              <a:rPr lang="sk" u="sng"/>
              <a:t> sign-up (Runtime, Performance)</a:t>
            </a:r>
            <a:r>
              <a:rPr lang="sk"/>
              <a:t> </a:t>
            </a:r>
            <a:r>
              <a:rPr i="1" lang="sk" sz="1318"/>
              <a:t>(Šimon Stehlík)</a:t>
            </a:r>
            <a:endParaRPr u="sng"/>
          </a:p>
          <a:p>
            <a:pPr indent="-342900" lvl="0" marL="457200" rtl="0" algn="l">
              <a:spcBef>
                <a:spcPts val="0"/>
              </a:spcBef>
              <a:spcAft>
                <a:spcPts val="0"/>
              </a:spcAft>
              <a:buSzPts val="1800"/>
              <a:buAutoNum type="arabicPeriod"/>
            </a:pPr>
            <a:r>
              <a:rPr lang="sk" u="sng"/>
              <a:t>DOS Attacks (Runtime, Security)</a:t>
            </a:r>
            <a:r>
              <a:rPr lang="sk"/>
              <a:t> </a:t>
            </a:r>
            <a:r>
              <a:rPr i="1" lang="sk" sz="1318"/>
              <a:t>(Zdeněk Bambas)</a:t>
            </a:r>
            <a:endParaRPr u="sng"/>
          </a:p>
          <a:p>
            <a:pPr indent="-342900" lvl="0" marL="457200" rtl="0" algn="l">
              <a:spcBef>
                <a:spcPts val="0"/>
              </a:spcBef>
              <a:spcAft>
                <a:spcPts val="0"/>
              </a:spcAft>
              <a:buSzPts val="1800"/>
              <a:buAutoNum type="arabicPeriod"/>
            </a:pPr>
            <a:r>
              <a:rPr lang="sk"/>
              <a:t>DB access (Runtime, Security)</a:t>
            </a:r>
            <a:endParaRPr/>
          </a:p>
          <a:p>
            <a:pPr indent="-342900" lvl="0" marL="457200" rtl="0" algn="l">
              <a:spcBef>
                <a:spcPts val="0"/>
              </a:spcBef>
              <a:spcAft>
                <a:spcPts val="0"/>
              </a:spcAft>
              <a:buSzPts val="1800"/>
              <a:buAutoNum type="arabicPeriod"/>
            </a:pPr>
            <a:r>
              <a:rPr lang="sk"/>
              <a:t>Student can only view own data (Runtime, Security)</a:t>
            </a:r>
            <a:endParaRPr/>
          </a:p>
          <a:p>
            <a:pPr indent="-342900" lvl="0" marL="457200" rtl="0" algn="l">
              <a:spcBef>
                <a:spcPts val="0"/>
              </a:spcBef>
              <a:spcAft>
                <a:spcPts val="0"/>
              </a:spcAft>
              <a:buSzPts val="1800"/>
              <a:buAutoNum type="arabicPeriod"/>
            </a:pPr>
            <a:r>
              <a:rPr lang="sk"/>
              <a:t>System correctly scales up and down with demand (Runtime, Elasticity)</a:t>
            </a:r>
            <a:endParaRPr/>
          </a:p>
          <a:p>
            <a:pPr indent="-342900" lvl="0" marL="457200" rtl="0" algn="l">
              <a:spcBef>
                <a:spcPts val="0"/>
              </a:spcBef>
              <a:spcAft>
                <a:spcPts val="0"/>
              </a:spcAft>
              <a:buSzPts val="1800"/>
              <a:buAutoNum type="arabicPeriod"/>
            </a:pPr>
            <a:r>
              <a:rPr lang="sk"/>
              <a:t>Notifications queue (Runtime,Availability)</a:t>
            </a:r>
            <a:endParaRPr/>
          </a:p>
          <a:p>
            <a:pPr indent="-342900" lvl="0" marL="457200" rtl="0" algn="l">
              <a:spcBef>
                <a:spcPts val="0"/>
              </a:spcBef>
              <a:spcAft>
                <a:spcPts val="0"/>
              </a:spcAft>
              <a:buSzPts val="1800"/>
              <a:buAutoNum type="arabicPeriod"/>
            </a:pPr>
            <a:r>
              <a:rPr lang="sk"/>
              <a:t>Grade Tampering Prevention (Runtime, Security)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sk"/>
              <a:t>Qualitative Requirement Overview</a:t>
            </a:r>
            <a:endParaRPr/>
          </a:p>
        </p:txBody>
      </p:sp>
      <p:sp>
        <p:nvSpPr>
          <p:cNvPr id="75" name="Google Shape;75;p15"/>
          <p:cNvSpPr txBox="1"/>
          <p:nvPr>
            <p:ph idx="1" type="body"/>
          </p:nvPr>
        </p:nvSpPr>
        <p:spPr>
          <a:xfrm>
            <a:off x="311700" y="1152475"/>
            <a:ext cx="8520600" cy="372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sk"/>
              <a:t>Design</a:t>
            </a:r>
            <a:endParaRPr/>
          </a:p>
          <a:p>
            <a:pPr indent="-342900" lvl="0" marL="457200" rtl="0" algn="l">
              <a:spcBef>
                <a:spcPts val="1200"/>
              </a:spcBef>
              <a:spcAft>
                <a:spcPts val="0"/>
              </a:spcAft>
              <a:buSzPts val="1800"/>
              <a:buAutoNum type="arabicPeriod"/>
            </a:pPr>
            <a:r>
              <a:rPr lang="sk" u="sng"/>
              <a:t>New ways of notifying (Design, Modifiability)</a:t>
            </a:r>
            <a:r>
              <a:rPr lang="sk"/>
              <a:t> </a:t>
            </a:r>
            <a:r>
              <a:rPr i="1" lang="sk" sz="1318"/>
              <a:t>(Matúš Jurčák)</a:t>
            </a:r>
            <a:endParaRPr/>
          </a:p>
          <a:p>
            <a:pPr indent="-342900" lvl="0" marL="457200" rtl="0" algn="l">
              <a:spcBef>
                <a:spcPts val="0"/>
              </a:spcBef>
              <a:spcAft>
                <a:spcPts val="0"/>
              </a:spcAft>
              <a:buSzPts val="1800"/>
              <a:buAutoNum type="arabicPeriod"/>
            </a:pPr>
            <a:r>
              <a:rPr lang="sk" u="sng"/>
              <a:t>Interoperability with the rest of the SIS (Design, Interoperability)</a:t>
            </a:r>
            <a:r>
              <a:rPr lang="sk"/>
              <a:t> </a:t>
            </a:r>
            <a:r>
              <a:rPr i="1" lang="sk" sz="1318"/>
              <a:t>(Lukáš Hellesch)</a:t>
            </a:r>
            <a:endParaRPr u="sng"/>
          </a:p>
          <a:p>
            <a:pPr indent="-342900" lvl="0" marL="457200" rtl="0" algn="l">
              <a:spcBef>
                <a:spcPts val="0"/>
              </a:spcBef>
              <a:spcAft>
                <a:spcPts val="0"/>
              </a:spcAft>
              <a:buSzPts val="1800"/>
              <a:buAutoNum type="arabicPeriod"/>
            </a:pPr>
            <a:r>
              <a:rPr lang="sk"/>
              <a:t>Plugin Architecture for Grade Suggestion (Design, Extensibility)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81" name="Google Shape;81;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2" name="Google Shape;82;p16" title="structurizr-1-Container-001.png"/>
          <p:cNvPicPr preferRelativeResize="0"/>
          <p:nvPr/>
        </p:nvPicPr>
        <p:blipFill>
          <a:blip r:embed="rId3">
            <a:alphaModFix/>
          </a:blip>
          <a:stretch>
            <a:fillRect/>
          </a:stretch>
        </p:blipFill>
        <p:spPr>
          <a:xfrm>
            <a:off x="1864060" y="0"/>
            <a:ext cx="5415880"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ctrTitle"/>
          </p:nvPr>
        </p:nvSpPr>
        <p:spPr>
          <a:xfrm>
            <a:off x="3044700" y="1444255"/>
            <a:ext cx="30546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sk"/>
              <a:t>Runtime Qualitative Requirements</a:t>
            </a:r>
            <a:endParaRPr/>
          </a:p>
        </p:txBody>
      </p:sp>
      <p:sp>
        <p:nvSpPr>
          <p:cNvPr id="88" name="Google Shape;88;p17"/>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35445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Exam DB For Students</a:t>
            </a:r>
            <a:endParaRPr/>
          </a:p>
        </p:txBody>
      </p:sp>
      <p:sp>
        <p:nvSpPr>
          <p:cNvPr id="94" name="Google Shape;94;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sk">
                <a:solidFill>
                  <a:srgbClr val="4A86E8"/>
                </a:solidFill>
              </a:rPr>
              <a:t>what:</a:t>
            </a:r>
            <a:r>
              <a:rPr lang="sk"/>
              <a:t> Student Viewpoint tries to access ExamDB (normal operation) during peaks </a:t>
            </a:r>
            <a:r>
              <a:rPr i="1" lang="sk"/>
              <a:t>(500 req / s)</a:t>
            </a:r>
            <a:r>
              <a:rPr lang="sk"/>
              <a:t> and this operation needs to succeed within 5 seconds</a:t>
            </a:r>
            <a:endParaRPr/>
          </a:p>
          <a:p>
            <a:pPr indent="-342900" lvl="0" marL="457200" rtl="0" algn="l">
              <a:spcBef>
                <a:spcPts val="0"/>
              </a:spcBef>
              <a:spcAft>
                <a:spcPts val="0"/>
              </a:spcAft>
              <a:buSzPts val="1800"/>
              <a:buChar char="-"/>
            </a:pPr>
            <a:r>
              <a:rPr lang="sk">
                <a:solidFill>
                  <a:srgbClr val="FF0000"/>
                </a:solidFill>
              </a:rPr>
              <a:t>how:</a:t>
            </a:r>
            <a:r>
              <a:rPr lang="sk"/>
              <a:t> Student Viewpoint --- (unable to read ExamDB) ---&gt; ExamDB --- (mask &amp; reload, log) ---&gt; 5s downtime</a:t>
            </a:r>
            <a:endParaRPr/>
          </a:p>
          <a:p>
            <a:pPr indent="-342900" lvl="0" marL="457200" rtl="0" algn="l">
              <a:spcBef>
                <a:spcPts val="0"/>
              </a:spcBef>
              <a:spcAft>
                <a:spcPts val="0"/>
              </a:spcAft>
              <a:buSzPts val="1800"/>
              <a:buChar char="-"/>
            </a:pPr>
            <a:r>
              <a:rPr lang="sk">
                <a:solidFill>
                  <a:srgbClr val="38761D"/>
                </a:solidFill>
              </a:rPr>
              <a:t>solution:</a:t>
            </a:r>
            <a:r>
              <a:rPr lang="sk"/>
              <a:t> Student Viewpoint will check the heartbeat of the ExamDB. In case of failure, it tries to restart the DB.</a:t>
            </a:r>
            <a:endParaRPr/>
          </a:p>
          <a:p>
            <a:pPr indent="-342900" lvl="0" marL="457200" rtl="0" algn="l">
              <a:spcBef>
                <a:spcPts val="0"/>
              </a:spcBef>
              <a:spcAft>
                <a:spcPts val="0"/>
              </a:spcAft>
              <a:buSzPts val="1800"/>
              <a:buChar char="-"/>
            </a:pPr>
            <a:r>
              <a:rPr lang="sk"/>
              <a:t>reasoning: Offered exam capacities are often limited so a lot of eager students are signing up at once. Signing up for an exam can also be stressful which leaves little room for failures in the system. Hence high availability is required. Students need to be assured they have signed up successfully.</a:t>
            </a:r>
            <a:endParaRPr/>
          </a:p>
        </p:txBody>
      </p:sp>
      <p:sp>
        <p:nvSpPr>
          <p:cNvPr id="95" name="Google Shape;95;p18"/>
          <p:cNvSpPr txBox="1"/>
          <p:nvPr>
            <p:ph type="title"/>
          </p:nvPr>
        </p:nvSpPr>
        <p:spPr>
          <a:xfrm>
            <a:off x="6480600" y="486425"/>
            <a:ext cx="23517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availability</a:t>
            </a:r>
            <a:endParaRPr i="1" sz="2020"/>
          </a:p>
        </p:txBody>
      </p:sp>
      <p:sp>
        <p:nvSpPr>
          <p:cNvPr id="96" name="Google Shape;96;p18"/>
          <p:cNvSpPr txBox="1"/>
          <p:nvPr>
            <p:ph type="title"/>
          </p:nvPr>
        </p:nvSpPr>
        <p:spPr>
          <a:xfrm>
            <a:off x="3856200" y="593375"/>
            <a:ext cx="2351700" cy="276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67602"/>
              <a:buNone/>
            </a:pPr>
            <a:r>
              <a:rPr i="1" lang="sk" sz="1318">
                <a:solidFill>
                  <a:schemeClr val="dk2"/>
                </a:solidFill>
              </a:rPr>
              <a:t>Jakub Mata</a:t>
            </a:r>
            <a:endParaRPr i="1" sz="1318">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Create an infographic for the current slide about a qualitative requirement fro our server. " id="101" name="Google Shape;101;p1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07" name="Google Shape;107;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0" title="structurizr-1-Component-004.png"/>
          <p:cNvPicPr preferRelativeResize="0"/>
          <p:nvPr/>
        </p:nvPicPr>
        <p:blipFill>
          <a:blip r:embed="rId3">
            <a:alphaModFix/>
          </a:blip>
          <a:stretch>
            <a:fillRect/>
          </a:stretch>
        </p:blipFill>
        <p:spPr>
          <a:xfrm>
            <a:off x="2197401" y="0"/>
            <a:ext cx="4749199"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35445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Exam DB For Teachers</a:t>
            </a:r>
            <a:endParaRPr/>
          </a:p>
        </p:txBody>
      </p:sp>
      <p:sp>
        <p:nvSpPr>
          <p:cNvPr id="114" name="Google Shape;114;p2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solidFill>
                  <a:srgbClr val="4A86E8"/>
                </a:solidFill>
              </a:rPr>
              <a:t>what:</a:t>
            </a:r>
            <a:r>
              <a:rPr lang="sk"/>
              <a:t> Teacher Viewpoint tries to access ExamDB (normal operation) and this operation needs to succeed within 1 hour</a:t>
            </a:r>
            <a:endParaRPr/>
          </a:p>
          <a:p>
            <a:pPr indent="-342900" lvl="0" marL="457200" rtl="0" algn="l">
              <a:spcBef>
                <a:spcPts val="0"/>
              </a:spcBef>
              <a:spcAft>
                <a:spcPts val="0"/>
              </a:spcAft>
              <a:buSzPts val="1800"/>
              <a:buChar char="-"/>
            </a:pPr>
            <a:r>
              <a:rPr lang="sk">
                <a:solidFill>
                  <a:srgbClr val="FF0000"/>
                </a:solidFill>
              </a:rPr>
              <a:t>how:</a:t>
            </a:r>
            <a:r>
              <a:rPr lang="sk"/>
              <a:t> Teacher Viewpoint --- (unable to read ExamDB) ---&gt; ExamDB --- (mask &amp; reload, log) ---&gt; 1h downtime</a:t>
            </a:r>
            <a:endParaRPr/>
          </a:p>
          <a:p>
            <a:pPr indent="-342900" lvl="0" marL="457200" rtl="0" algn="l">
              <a:spcBef>
                <a:spcPts val="0"/>
              </a:spcBef>
              <a:spcAft>
                <a:spcPts val="0"/>
              </a:spcAft>
              <a:buSzPts val="1800"/>
              <a:buChar char="-"/>
            </a:pPr>
            <a:r>
              <a:rPr lang="sk">
                <a:solidFill>
                  <a:srgbClr val="38761D"/>
                </a:solidFill>
              </a:rPr>
              <a:t>solution:</a:t>
            </a:r>
            <a:r>
              <a:rPr lang="sk"/>
              <a:t> Student Viewpoint will check the heartbeat of the ExamDB. In case of failure, it tries to restart the DB.</a:t>
            </a:r>
            <a:endParaRPr/>
          </a:p>
          <a:p>
            <a:pPr indent="-342900" lvl="0" marL="457200" rtl="0" algn="l">
              <a:spcBef>
                <a:spcPts val="0"/>
              </a:spcBef>
              <a:spcAft>
                <a:spcPts val="0"/>
              </a:spcAft>
              <a:buSzPts val="1800"/>
              <a:buChar char="-"/>
            </a:pPr>
            <a:r>
              <a:rPr lang="sk"/>
              <a:t>reasoning: Teachers are usually not pressured to release exam dates at specific times. They are also more understanding and can tolerate higher response times.</a:t>
            </a:r>
            <a:endParaRPr/>
          </a:p>
        </p:txBody>
      </p:sp>
      <p:sp>
        <p:nvSpPr>
          <p:cNvPr id="115" name="Google Shape;115;p21"/>
          <p:cNvSpPr txBox="1"/>
          <p:nvPr>
            <p:ph type="title"/>
          </p:nvPr>
        </p:nvSpPr>
        <p:spPr>
          <a:xfrm>
            <a:off x="6480600" y="486425"/>
            <a:ext cx="23517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availability</a:t>
            </a:r>
            <a:endParaRPr i="1" sz="2020"/>
          </a:p>
        </p:txBody>
      </p:sp>
      <p:sp>
        <p:nvSpPr>
          <p:cNvPr id="116" name="Google Shape;116;p21"/>
          <p:cNvSpPr txBox="1"/>
          <p:nvPr>
            <p:ph type="title"/>
          </p:nvPr>
        </p:nvSpPr>
        <p:spPr>
          <a:xfrm>
            <a:off x="3856200" y="593375"/>
            <a:ext cx="2351700" cy="276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67602"/>
              <a:buNone/>
            </a:pPr>
            <a:r>
              <a:rPr i="1" lang="sk" sz="1318">
                <a:solidFill>
                  <a:schemeClr val="dk2"/>
                </a:solidFill>
              </a:rPr>
              <a:t>Jakub Mata</a:t>
            </a:r>
            <a:endParaRPr i="1" sz="1318">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22" name="Google Shape;122;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3" name="Google Shape;123;p22" title="structurizr-1-Component-005.png"/>
          <p:cNvPicPr preferRelativeResize="0"/>
          <p:nvPr/>
        </p:nvPicPr>
        <p:blipFill>
          <a:blip r:embed="rId3">
            <a:alphaModFix/>
          </a:blip>
          <a:stretch>
            <a:fillRect/>
          </a:stretch>
        </p:blipFill>
        <p:spPr>
          <a:xfrm>
            <a:off x="2477850" y="0"/>
            <a:ext cx="3853806" cy="5108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35445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Exam period sign-up</a:t>
            </a:r>
            <a:endParaRPr/>
          </a:p>
        </p:txBody>
      </p:sp>
      <p:sp>
        <p:nvSpPr>
          <p:cNvPr id="129" name="Google Shape;129;p2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solidFill>
                  <a:srgbClr val="4A86E8"/>
                </a:solidFill>
              </a:rPr>
              <a:t>what:</a:t>
            </a:r>
            <a:r>
              <a:rPr lang="sk"/>
              <a:t> Student wants to sign up for an exam and the system must be responsive enough even during high times</a:t>
            </a:r>
            <a:endParaRPr/>
          </a:p>
          <a:p>
            <a:pPr indent="-342900" lvl="0" marL="457200" rtl="0" algn="l">
              <a:spcBef>
                <a:spcPts val="0"/>
              </a:spcBef>
              <a:spcAft>
                <a:spcPts val="0"/>
              </a:spcAft>
              <a:buSzPts val="1800"/>
              <a:buChar char="-"/>
            </a:pPr>
            <a:r>
              <a:rPr lang="sk">
                <a:solidFill>
                  <a:srgbClr val="FF0000"/>
                </a:solidFill>
              </a:rPr>
              <a:t>how:</a:t>
            </a:r>
            <a:r>
              <a:rPr lang="sk"/>
              <a:t> Student (signing up for an exam during exam period): high demand (500 requests / second) --&gt; System --&gt; response within 5s</a:t>
            </a:r>
            <a:endParaRPr/>
          </a:p>
          <a:p>
            <a:pPr indent="-342900" lvl="0" marL="457200" rtl="0" algn="l">
              <a:spcBef>
                <a:spcPts val="0"/>
              </a:spcBef>
              <a:spcAft>
                <a:spcPts val="0"/>
              </a:spcAft>
              <a:buSzPts val="1800"/>
              <a:buChar char="-"/>
            </a:pPr>
            <a:r>
              <a:rPr lang="sk">
                <a:solidFill>
                  <a:srgbClr val="38761D"/>
                </a:solidFill>
              </a:rPr>
              <a:t>solution:</a:t>
            </a:r>
            <a:r>
              <a:rPr lang="sk"/>
              <a:t> Profile the hotpaths and improve performance. </a:t>
            </a:r>
            <a:r>
              <a:rPr i="1" lang="sk"/>
              <a:t>No architectural change needed.</a:t>
            </a:r>
            <a:endParaRPr i="1"/>
          </a:p>
          <a:p>
            <a:pPr indent="-342900" lvl="0" marL="457200" rtl="0" algn="l">
              <a:spcBef>
                <a:spcPts val="0"/>
              </a:spcBef>
              <a:spcAft>
                <a:spcPts val="0"/>
              </a:spcAft>
              <a:buSzPts val="1800"/>
              <a:buChar char="-"/>
            </a:pPr>
            <a:r>
              <a:rPr lang="sk"/>
              <a:t>reasoning: Profiling and improving the code can help handle peak loads better.</a:t>
            </a:r>
            <a:endParaRPr/>
          </a:p>
        </p:txBody>
      </p:sp>
      <p:sp>
        <p:nvSpPr>
          <p:cNvPr id="130" name="Google Shape;130;p23"/>
          <p:cNvSpPr txBox="1"/>
          <p:nvPr>
            <p:ph type="title"/>
          </p:nvPr>
        </p:nvSpPr>
        <p:spPr>
          <a:xfrm>
            <a:off x="6417300" y="486425"/>
            <a:ext cx="24150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performance</a:t>
            </a:r>
            <a:endParaRPr i="1" sz="2020"/>
          </a:p>
        </p:txBody>
      </p:sp>
      <p:sp>
        <p:nvSpPr>
          <p:cNvPr id="131" name="Google Shape;131;p23"/>
          <p:cNvSpPr txBox="1"/>
          <p:nvPr>
            <p:ph type="title"/>
          </p:nvPr>
        </p:nvSpPr>
        <p:spPr>
          <a:xfrm>
            <a:off x="3525100" y="519125"/>
            <a:ext cx="1352400" cy="424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891"/>
              <a:buNone/>
            </a:pPr>
            <a:r>
              <a:rPr i="1" lang="sk" sz="1318">
                <a:solidFill>
                  <a:schemeClr val="dk2"/>
                </a:solidFill>
              </a:rPr>
              <a:t>Šimon Stehlík</a:t>
            </a:r>
            <a:endParaRPr i="1" sz="1318">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4" title="deployment_deploExamSignup.png"/>
          <p:cNvPicPr preferRelativeResize="0"/>
          <p:nvPr/>
        </p:nvPicPr>
        <p:blipFill>
          <a:blip r:embed="rId3">
            <a:alphaModFix/>
          </a:blip>
          <a:stretch>
            <a:fillRect/>
          </a:stretch>
        </p:blipFill>
        <p:spPr>
          <a:xfrm>
            <a:off x="858795" y="0"/>
            <a:ext cx="7135626" cy="48680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5" title="SigningUpForExams2.png"/>
          <p:cNvPicPr preferRelativeResize="0"/>
          <p:nvPr/>
        </p:nvPicPr>
        <p:blipFill>
          <a:blip r:embed="rId3">
            <a:alphaModFix/>
          </a:blip>
          <a:stretch>
            <a:fillRect/>
          </a:stretch>
        </p:blipFill>
        <p:spPr>
          <a:xfrm>
            <a:off x="152400" y="152400"/>
            <a:ext cx="4281884" cy="4838701"/>
          </a:xfrm>
          <a:prstGeom prst="rect">
            <a:avLst/>
          </a:prstGeom>
          <a:noFill/>
          <a:ln>
            <a:noFill/>
          </a:ln>
        </p:spPr>
      </p:pic>
      <p:pic>
        <p:nvPicPr>
          <p:cNvPr id="142" name="Google Shape;142;p25" title="ExamHighPointStructurizr.png"/>
          <p:cNvPicPr preferRelativeResize="0"/>
          <p:nvPr/>
        </p:nvPicPr>
        <p:blipFill>
          <a:blip r:embed="rId4">
            <a:alphaModFix/>
          </a:blip>
          <a:stretch>
            <a:fillRect/>
          </a:stretch>
        </p:blipFill>
        <p:spPr>
          <a:xfrm>
            <a:off x="2184200" y="0"/>
            <a:ext cx="7769227" cy="4370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445025"/>
            <a:ext cx="35445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DOS Attacks</a:t>
            </a:r>
            <a:endParaRPr/>
          </a:p>
        </p:txBody>
      </p:sp>
      <p:sp>
        <p:nvSpPr>
          <p:cNvPr id="148" name="Google Shape;148;p2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chemeClr val="dk1"/>
              </a:buClr>
              <a:buSzPts val="1100"/>
              <a:buChar char="●"/>
            </a:pPr>
            <a:r>
              <a:rPr lang="sk">
                <a:solidFill>
                  <a:srgbClr val="4A86E8"/>
                </a:solidFill>
              </a:rPr>
              <a:t>what:</a:t>
            </a:r>
            <a:r>
              <a:rPr lang="sk"/>
              <a:t> an attacker tries to overload the system using Denial Of Service. The system has to be resilient enough to say available; other users should not notice a dump in performance.</a:t>
            </a:r>
            <a:endParaRPr/>
          </a:p>
          <a:p>
            <a:pPr indent="-298450" lvl="0" marL="457200" rtl="0" algn="l">
              <a:spcBef>
                <a:spcPts val="0"/>
              </a:spcBef>
              <a:spcAft>
                <a:spcPts val="0"/>
              </a:spcAft>
              <a:buClr>
                <a:schemeClr val="dk1"/>
              </a:buClr>
              <a:buSzPts val="1100"/>
              <a:buChar char="●"/>
            </a:pPr>
            <a:r>
              <a:rPr lang="sk">
                <a:solidFill>
                  <a:srgbClr val="FF0000"/>
                </a:solidFill>
              </a:rPr>
              <a:t>how:</a:t>
            </a:r>
            <a:r>
              <a:rPr lang="sk"/>
              <a:t> Attacker --- (many reqs from one device) --- System --- (ignore / block incoming requests)</a:t>
            </a:r>
            <a:endParaRPr/>
          </a:p>
          <a:p>
            <a:pPr indent="-298450" lvl="0" marL="457200" rtl="0" algn="l">
              <a:spcBef>
                <a:spcPts val="0"/>
              </a:spcBef>
              <a:spcAft>
                <a:spcPts val="0"/>
              </a:spcAft>
              <a:buClr>
                <a:schemeClr val="dk1"/>
              </a:buClr>
              <a:buSzPts val="1100"/>
              <a:buChar char="●"/>
            </a:pPr>
            <a:r>
              <a:rPr lang="sk">
                <a:solidFill>
                  <a:srgbClr val="6AA84F"/>
                </a:solidFill>
              </a:rPr>
              <a:t>solution:</a:t>
            </a:r>
            <a:r>
              <a:rPr lang="sk"/>
              <a:t> Use a reverse proxy (Nginx) and put it in front the server. Configure it using the "leaky bucket" technique, purposefully slowing down excessive requests or even discarding them completely without informing the client.</a:t>
            </a:r>
            <a:endParaRPr/>
          </a:p>
          <a:p>
            <a:pPr indent="0" lvl="0" marL="0" rtl="0" algn="l">
              <a:spcBef>
                <a:spcPts val="1200"/>
              </a:spcBef>
              <a:spcAft>
                <a:spcPts val="1200"/>
              </a:spcAft>
              <a:buNone/>
            </a:pPr>
            <a:r>
              <a:t/>
            </a:r>
            <a:endParaRPr/>
          </a:p>
        </p:txBody>
      </p:sp>
      <p:sp>
        <p:nvSpPr>
          <p:cNvPr id="149" name="Google Shape;149;p26"/>
          <p:cNvSpPr txBox="1"/>
          <p:nvPr>
            <p:ph type="title"/>
          </p:nvPr>
        </p:nvSpPr>
        <p:spPr>
          <a:xfrm>
            <a:off x="6912000" y="486425"/>
            <a:ext cx="19203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security</a:t>
            </a:r>
            <a:endParaRPr i="1" sz="2020"/>
          </a:p>
        </p:txBody>
      </p:sp>
      <p:sp>
        <p:nvSpPr>
          <p:cNvPr id="150" name="Google Shape;150;p26"/>
          <p:cNvSpPr txBox="1"/>
          <p:nvPr>
            <p:ph type="title"/>
          </p:nvPr>
        </p:nvSpPr>
        <p:spPr>
          <a:xfrm>
            <a:off x="2419950" y="519125"/>
            <a:ext cx="4304100" cy="424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891"/>
              <a:buNone/>
            </a:pPr>
            <a:r>
              <a:rPr i="1" lang="sk" sz="1318">
                <a:solidFill>
                  <a:schemeClr val="dk2"/>
                </a:solidFill>
              </a:rPr>
              <a:t>Jakub Mata, </a:t>
            </a:r>
            <a:r>
              <a:rPr i="1" lang="sk" sz="1318">
                <a:solidFill>
                  <a:schemeClr val="dk2"/>
                </a:solidFill>
              </a:rPr>
              <a:t>Viktor Závodský, </a:t>
            </a:r>
            <a:r>
              <a:rPr i="1" lang="sk" sz="1318">
                <a:solidFill>
                  <a:schemeClr val="dk2"/>
                </a:solidFill>
              </a:rPr>
              <a:t>Zdeněk Bambas</a:t>
            </a:r>
            <a:endParaRPr i="1" sz="1318">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Can you create a similarly designed infographic on a possible DOS attack of a malicious attacker based on the current slide?" id="155" name="Google Shape;155;p27"/>
          <p:cNvPicPr preferRelativeResize="0"/>
          <p:nvPr/>
        </p:nvPicPr>
        <p:blipFill>
          <a:blip r:embed="rId3">
            <a:alphaModFix/>
          </a:blip>
          <a:stretch>
            <a:fillRect/>
          </a:stretch>
        </p:blipFill>
        <p:spPr>
          <a:xfrm>
            <a:off x="0" y="19936"/>
            <a:ext cx="9143545" cy="5103381"/>
          </a:xfrm>
          <a:prstGeom prst="rect">
            <a:avLst/>
          </a:prstGeom>
          <a:noFill/>
          <a:ln>
            <a:noFill/>
          </a:ln>
        </p:spPr>
      </p:pic>
      <p:cxnSp>
        <p:nvCxnSpPr>
          <p:cNvPr id="156" name="Google Shape;156;p27"/>
          <p:cNvCxnSpPr/>
          <p:nvPr/>
        </p:nvCxnSpPr>
        <p:spPr>
          <a:xfrm rot="10800000">
            <a:off x="7466000" y="3592175"/>
            <a:ext cx="217500" cy="480900"/>
          </a:xfrm>
          <a:prstGeom prst="straightConnector1">
            <a:avLst/>
          </a:prstGeom>
          <a:noFill/>
          <a:ln cap="flat" cmpd="sng" w="38100">
            <a:solidFill>
              <a:srgbClr val="FF9900"/>
            </a:solidFill>
            <a:prstDash val="solid"/>
            <a:round/>
            <a:headEnd len="med" w="med" type="none"/>
            <a:tailEnd len="med" w="med" type="triangle"/>
          </a:ln>
        </p:spPr>
      </p:cxnSp>
      <p:cxnSp>
        <p:nvCxnSpPr>
          <p:cNvPr id="157" name="Google Shape;157;p27"/>
          <p:cNvCxnSpPr/>
          <p:nvPr/>
        </p:nvCxnSpPr>
        <p:spPr>
          <a:xfrm>
            <a:off x="8218725" y="3537850"/>
            <a:ext cx="90600" cy="226800"/>
          </a:xfrm>
          <a:prstGeom prst="straightConnector1">
            <a:avLst/>
          </a:prstGeom>
          <a:noFill/>
          <a:ln cap="flat" cmpd="sng" w="9525">
            <a:solidFill>
              <a:srgbClr val="FF0000"/>
            </a:solidFill>
            <a:prstDash val="solid"/>
            <a:round/>
            <a:headEnd len="med" w="med" type="none"/>
            <a:tailEnd len="med" w="med" type="none"/>
          </a:ln>
        </p:spPr>
      </p:cxnSp>
      <p:cxnSp>
        <p:nvCxnSpPr>
          <p:cNvPr id="158" name="Google Shape;158;p27"/>
          <p:cNvCxnSpPr/>
          <p:nvPr/>
        </p:nvCxnSpPr>
        <p:spPr>
          <a:xfrm>
            <a:off x="7973775" y="3701150"/>
            <a:ext cx="81600" cy="208500"/>
          </a:xfrm>
          <a:prstGeom prst="straightConnector1">
            <a:avLst/>
          </a:prstGeom>
          <a:noFill/>
          <a:ln cap="flat" cmpd="sng" w="9525">
            <a:solidFill>
              <a:srgbClr val="FF0000"/>
            </a:solidFill>
            <a:prstDash val="solid"/>
            <a:round/>
            <a:headEnd len="med" w="med" type="none"/>
            <a:tailEnd len="med" w="med" type="none"/>
          </a:ln>
        </p:spPr>
      </p:cxnSp>
      <p:cxnSp>
        <p:nvCxnSpPr>
          <p:cNvPr id="159" name="Google Shape;159;p27"/>
          <p:cNvCxnSpPr/>
          <p:nvPr/>
        </p:nvCxnSpPr>
        <p:spPr>
          <a:xfrm>
            <a:off x="7756075" y="3764650"/>
            <a:ext cx="117900" cy="2631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65" name="Google Shape;165;p2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28" title="structurizr-1-Container-001.png"/>
          <p:cNvPicPr preferRelativeResize="0"/>
          <p:nvPr/>
        </p:nvPicPr>
        <p:blipFill>
          <a:blip r:embed="rId3">
            <a:alphaModFix/>
          </a:blip>
          <a:stretch>
            <a:fillRect/>
          </a:stretch>
        </p:blipFill>
        <p:spPr>
          <a:xfrm>
            <a:off x="1864060" y="0"/>
            <a:ext cx="5415880" cy="5143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445025"/>
            <a:ext cx="35445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Database Access</a:t>
            </a:r>
            <a:endParaRPr/>
          </a:p>
        </p:txBody>
      </p:sp>
      <p:sp>
        <p:nvSpPr>
          <p:cNvPr id="172" name="Google Shape;172;p2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3" name="Google Shape;173;p29"/>
          <p:cNvSpPr txBox="1"/>
          <p:nvPr>
            <p:ph type="title"/>
          </p:nvPr>
        </p:nvSpPr>
        <p:spPr>
          <a:xfrm>
            <a:off x="6912000" y="486425"/>
            <a:ext cx="19203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security</a:t>
            </a:r>
            <a:endParaRPr i="1" sz="20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445025"/>
            <a:ext cx="50259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Students can only view own data</a:t>
            </a:r>
            <a:endParaRPr/>
          </a:p>
        </p:txBody>
      </p:sp>
      <p:sp>
        <p:nvSpPr>
          <p:cNvPr id="179" name="Google Shape;179;p3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80" name="Google Shape;180;p30"/>
          <p:cNvSpPr txBox="1"/>
          <p:nvPr>
            <p:ph type="title"/>
          </p:nvPr>
        </p:nvSpPr>
        <p:spPr>
          <a:xfrm>
            <a:off x="6912000" y="486425"/>
            <a:ext cx="19203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security</a:t>
            </a:r>
            <a:endParaRPr i="1" sz="202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445025"/>
            <a:ext cx="54990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System correctly scales with demand</a:t>
            </a:r>
            <a:endParaRPr/>
          </a:p>
        </p:txBody>
      </p:sp>
      <p:sp>
        <p:nvSpPr>
          <p:cNvPr id="186" name="Google Shape;186;p3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87" name="Google Shape;187;p31"/>
          <p:cNvSpPr txBox="1"/>
          <p:nvPr>
            <p:ph type="title"/>
          </p:nvPr>
        </p:nvSpPr>
        <p:spPr>
          <a:xfrm>
            <a:off x="6756650" y="486425"/>
            <a:ext cx="20754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elasticity</a:t>
            </a:r>
            <a:endParaRPr i="1" sz="202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445025"/>
            <a:ext cx="54990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Grade tampering prevention</a:t>
            </a:r>
            <a:endParaRPr/>
          </a:p>
        </p:txBody>
      </p:sp>
      <p:sp>
        <p:nvSpPr>
          <p:cNvPr id="193" name="Google Shape;193;p3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4" name="Google Shape;194;p32"/>
          <p:cNvSpPr txBox="1"/>
          <p:nvPr>
            <p:ph type="title"/>
          </p:nvPr>
        </p:nvSpPr>
        <p:spPr>
          <a:xfrm>
            <a:off x="6756650" y="486425"/>
            <a:ext cx="20754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security</a:t>
            </a:r>
            <a:endParaRPr i="1" sz="202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445025"/>
            <a:ext cx="54990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Notifications queue</a:t>
            </a:r>
            <a:endParaRPr/>
          </a:p>
        </p:txBody>
      </p:sp>
      <p:sp>
        <p:nvSpPr>
          <p:cNvPr id="200" name="Google Shape;200;p3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01" name="Google Shape;201;p33"/>
          <p:cNvSpPr txBox="1"/>
          <p:nvPr>
            <p:ph type="title"/>
          </p:nvPr>
        </p:nvSpPr>
        <p:spPr>
          <a:xfrm>
            <a:off x="6373775" y="486425"/>
            <a:ext cx="24582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runtime, performance</a:t>
            </a:r>
            <a:endParaRPr i="1" sz="2020"/>
          </a:p>
        </p:txBody>
      </p:sp>
      <p:sp>
        <p:nvSpPr>
          <p:cNvPr id="202" name="Google Shape;202;p33"/>
          <p:cNvSpPr txBox="1"/>
          <p:nvPr>
            <p:ph type="title"/>
          </p:nvPr>
        </p:nvSpPr>
        <p:spPr>
          <a:xfrm>
            <a:off x="3396150" y="593375"/>
            <a:ext cx="2351700" cy="276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67602"/>
              <a:buNone/>
            </a:pPr>
            <a:r>
              <a:rPr i="1" lang="sk" sz="1318">
                <a:solidFill>
                  <a:schemeClr val="dk2"/>
                </a:solidFill>
              </a:rPr>
              <a:t>Matúš Jurčák</a:t>
            </a:r>
            <a:endParaRPr i="1" sz="1318">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ctrTitle"/>
          </p:nvPr>
        </p:nvSpPr>
        <p:spPr>
          <a:xfrm>
            <a:off x="3044700" y="1444255"/>
            <a:ext cx="30546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sk"/>
              <a:t>Design </a:t>
            </a:r>
            <a:r>
              <a:rPr lang="sk"/>
              <a:t>Qualitative Requirements</a:t>
            </a:r>
            <a:endParaRPr/>
          </a:p>
        </p:txBody>
      </p:sp>
      <p:sp>
        <p:nvSpPr>
          <p:cNvPr id="208" name="Google Shape;208;p34"/>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445025"/>
            <a:ext cx="54990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New ways of notifying</a:t>
            </a:r>
            <a:endParaRPr/>
          </a:p>
        </p:txBody>
      </p:sp>
      <p:sp>
        <p:nvSpPr>
          <p:cNvPr id="214" name="Google Shape;214;p3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sk">
                <a:solidFill>
                  <a:srgbClr val="4A86E8"/>
                </a:solidFill>
              </a:rPr>
              <a:t>what:</a:t>
            </a:r>
            <a:r>
              <a:rPr lang="sk"/>
              <a:t> The system must be designed to easily accommodate new notification methods (e.g., SMS, push notifications) in the future</a:t>
            </a:r>
            <a:endParaRPr/>
          </a:p>
          <a:p>
            <a:pPr indent="-342900" lvl="0" marL="457200" rtl="0" algn="l">
              <a:spcBef>
                <a:spcPts val="0"/>
              </a:spcBef>
              <a:spcAft>
                <a:spcPts val="0"/>
              </a:spcAft>
              <a:buSzPts val="1800"/>
              <a:buChar char="-"/>
            </a:pPr>
            <a:r>
              <a:rPr lang="sk">
                <a:solidFill>
                  <a:srgbClr val="FF0000"/>
                </a:solidFill>
              </a:rPr>
              <a:t>how:</a:t>
            </a:r>
            <a:r>
              <a:rPr lang="sk"/>
              <a:t> Notifications ---&gt; (new kind of notification requested) ---&gt; Notification Maker ---&gt; (new delivery method integrated) ---&gt; 1 week development time</a:t>
            </a:r>
            <a:endParaRPr/>
          </a:p>
          <a:p>
            <a:pPr indent="-342900" lvl="0" marL="457200" rtl="0" algn="l">
              <a:spcBef>
                <a:spcPts val="0"/>
              </a:spcBef>
              <a:spcAft>
                <a:spcPts val="0"/>
              </a:spcAft>
              <a:buSzPts val="1800"/>
              <a:buChar char="-"/>
            </a:pPr>
            <a:r>
              <a:rPr lang="sk">
                <a:solidFill>
                  <a:srgbClr val="38761D"/>
                </a:solidFill>
              </a:rPr>
              <a:t>solution:</a:t>
            </a:r>
            <a:r>
              <a:rPr lang="sk"/>
              <a:t> Implement a notification delivery router that can direct notifications from the notification maker to all the supported notification methods. New methods can be added by implementing a new delivery module and registering it with the router.</a:t>
            </a:r>
            <a:endParaRPr/>
          </a:p>
          <a:p>
            <a:pPr indent="-342900" lvl="0" marL="457200" rtl="0" algn="l">
              <a:spcBef>
                <a:spcPts val="0"/>
              </a:spcBef>
              <a:spcAft>
                <a:spcPts val="0"/>
              </a:spcAft>
              <a:buSzPts val="1800"/>
              <a:buChar char="-"/>
            </a:pPr>
            <a:r>
              <a:rPr lang="sk"/>
              <a:t>reasoning: …</a:t>
            </a:r>
            <a:endParaRPr/>
          </a:p>
        </p:txBody>
      </p:sp>
      <p:sp>
        <p:nvSpPr>
          <p:cNvPr id="215" name="Google Shape;215;p35"/>
          <p:cNvSpPr txBox="1"/>
          <p:nvPr>
            <p:ph type="title"/>
          </p:nvPr>
        </p:nvSpPr>
        <p:spPr>
          <a:xfrm>
            <a:off x="6531425" y="486425"/>
            <a:ext cx="23004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design, </a:t>
            </a:r>
            <a:r>
              <a:rPr i="1" lang="sk" sz="2020"/>
              <a:t>modifiability</a:t>
            </a:r>
            <a:endParaRPr i="1" sz="2020"/>
          </a:p>
        </p:txBody>
      </p:sp>
      <p:sp>
        <p:nvSpPr>
          <p:cNvPr id="216" name="Google Shape;216;p35"/>
          <p:cNvSpPr txBox="1"/>
          <p:nvPr>
            <p:ph type="title"/>
          </p:nvPr>
        </p:nvSpPr>
        <p:spPr>
          <a:xfrm>
            <a:off x="3529100" y="593375"/>
            <a:ext cx="2351700" cy="276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67602"/>
              <a:buNone/>
            </a:pPr>
            <a:r>
              <a:rPr i="1" lang="sk" sz="1318">
                <a:solidFill>
                  <a:schemeClr val="dk2"/>
                </a:solidFill>
              </a:rPr>
              <a:t>Matúš Jurčák</a:t>
            </a:r>
            <a:endParaRPr i="1" sz="1318">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22" name="Google Shape;222;p3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3" name="Google Shape;223;p36"/>
          <p:cNvPicPr preferRelativeResize="0"/>
          <p:nvPr/>
        </p:nvPicPr>
        <p:blipFill>
          <a:blip r:embed="rId3">
            <a:alphaModFix/>
          </a:blip>
          <a:stretch>
            <a:fillRect/>
          </a:stretch>
        </p:blipFill>
        <p:spPr>
          <a:xfrm>
            <a:off x="237067" y="0"/>
            <a:ext cx="8669865" cy="514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311700" y="445025"/>
            <a:ext cx="54990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Interoperability with SIS</a:t>
            </a:r>
            <a:endParaRPr/>
          </a:p>
        </p:txBody>
      </p:sp>
      <p:sp>
        <p:nvSpPr>
          <p:cNvPr id="229" name="Google Shape;229;p3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sk">
                <a:solidFill>
                  <a:srgbClr val="4A86E8"/>
                </a:solidFill>
              </a:rPr>
              <a:t>what:</a:t>
            </a:r>
            <a:r>
              <a:rPr lang="sk"/>
              <a:t> The exam system must be able to communicate with the rest of the system. Other parts of the system must be able to easily access the functionality this system.</a:t>
            </a:r>
            <a:endParaRPr/>
          </a:p>
          <a:p>
            <a:pPr indent="-342900" lvl="0" marL="457200" rtl="0" algn="l">
              <a:spcBef>
                <a:spcPts val="0"/>
              </a:spcBef>
              <a:spcAft>
                <a:spcPts val="0"/>
              </a:spcAft>
              <a:buSzPts val="1800"/>
              <a:buChar char="-"/>
            </a:pPr>
            <a:r>
              <a:rPr lang="sk">
                <a:solidFill>
                  <a:srgbClr val="FF0000"/>
                </a:solidFill>
              </a:rPr>
              <a:t>how:</a:t>
            </a:r>
            <a:r>
              <a:rPr lang="sk"/>
              <a:t> Exam System &lt;---&gt; (data exchange) &lt;---&gt; SIS</a:t>
            </a:r>
            <a:endParaRPr/>
          </a:p>
          <a:p>
            <a:pPr indent="-342900" lvl="0" marL="457200" rtl="0" algn="l">
              <a:spcBef>
                <a:spcPts val="0"/>
              </a:spcBef>
              <a:spcAft>
                <a:spcPts val="0"/>
              </a:spcAft>
              <a:buSzPts val="1800"/>
              <a:buChar char="-"/>
            </a:pPr>
            <a:r>
              <a:rPr lang="sk">
                <a:solidFill>
                  <a:srgbClr val="38761D"/>
                </a:solidFill>
              </a:rPr>
              <a:t>solution:</a:t>
            </a:r>
            <a:r>
              <a:rPr lang="sk"/>
              <a:t> Create an extra container as an interface for the Exam System.</a:t>
            </a:r>
            <a:endParaRPr/>
          </a:p>
          <a:p>
            <a:pPr indent="-342900" lvl="0" marL="457200" rtl="0" algn="l">
              <a:spcBef>
                <a:spcPts val="0"/>
              </a:spcBef>
              <a:spcAft>
                <a:spcPts val="0"/>
              </a:spcAft>
              <a:buSzPts val="1800"/>
              <a:buChar char="-"/>
            </a:pPr>
            <a:r>
              <a:rPr lang="sk"/>
              <a:t>reasoning: Isolates the Exam System's internals from the rest of the university, ensuring that changes to our database don't break other systems</a:t>
            </a:r>
            <a:endParaRPr sz="1200">
              <a:latin typeface="Arial"/>
              <a:ea typeface="Arial"/>
              <a:cs typeface="Arial"/>
              <a:sym typeface="Arial"/>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30" name="Google Shape;230;p37"/>
          <p:cNvSpPr txBox="1"/>
          <p:nvPr>
            <p:ph type="title"/>
          </p:nvPr>
        </p:nvSpPr>
        <p:spPr>
          <a:xfrm>
            <a:off x="6328725" y="486425"/>
            <a:ext cx="25029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design, interoperability</a:t>
            </a:r>
            <a:endParaRPr i="1" sz="2020"/>
          </a:p>
        </p:txBody>
      </p:sp>
      <p:sp>
        <p:nvSpPr>
          <p:cNvPr id="231" name="Google Shape;231;p37"/>
          <p:cNvSpPr txBox="1"/>
          <p:nvPr>
            <p:ph type="title"/>
          </p:nvPr>
        </p:nvSpPr>
        <p:spPr>
          <a:xfrm>
            <a:off x="3897750" y="593375"/>
            <a:ext cx="2351700" cy="276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67602"/>
              <a:buNone/>
            </a:pPr>
            <a:r>
              <a:rPr i="1" lang="sk" sz="1318">
                <a:solidFill>
                  <a:schemeClr val="dk2"/>
                </a:solidFill>
              </a:rPr>
              <a:t>Lukáš Hellesch, Viktor Závodský</a:t>
            </a:r>
            <a:endParaRPr i="1" sz="1318">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37" name="Google Shape;237;p3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8" name="Google Shape;238;p38" title="Screenshot 2026-01-06 at 10.43.18.png"/>
          <p:cNvPicPr preferRelativeResize="0"/>
          <p:nvPr/>
        </p:nvPicPr>
        <p:blipFill>
          <a:blip r:embed="rId3">
            <a:alphaModFix/>
          </a:blip>
          <a:stretch>
            <a:fillRect/>
          </a:stretch>
        </p:blipFill>
        <p:spPr>
          <a:xfrm>
            <a:off x="1026725" y="0"/>
            <a:ext cx="7199426" cy="51435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445025"/>
            <a:ext cx="58593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sk"/>
              <a:t>Plugin architecture for grade suggestion</a:t>
            </a:r>
            <a:endParaRPr/>
          </a:p>
        </p:txBody>
      </p:sp>
      <p:sp>
        <p:nvSpPr>
          <p:cNvPr id="244" name="Google Shape;244;p3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45" name="Google Shape;245;p39"/>
          <p:cNvSpPr txBox="1"/>
          <p:nvPr>
            <p:ph type="title"/>
          </p:nvPr>
        </p:nvSpPr>
        <p:spPr>
          <a:xfrm>
            <a:off x="6621525" y="486425"/>
            <a:ext cx="2210100" cy="489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49009"/>
              <a:buNone/>
            </a:pPr>
            <a:r>
              <a:rPr i="1" lang="sk" sz="2020"/>
              <a:t>design, </a:t>
            </a:r>
            <a:r>
              <a:rPr i="1" lang="sk" sz="2020"/>
              <a:t>extensibility</a:t>
            </a:r>
            <a:endParaRPr i="1" sz="202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51" name="Google Shape;251;p4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52" name="Google Shape;252;p40"/>
          <p:cNvSpPr txBox="1"/>
          <p:nvPr/>
        </p:nvSpPr>
        <p:spPr>
          <a:xfrm>
            <a:off x="1558050" y="2225400"/>
            <a:ext cx="6027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sk" sz="3300" u="sng">
                <a:solidFill>
                  <a:srgbClr val="4A86E8"/>
                </a:solidFill>
              </a:rPr>
              <a:t>Thank you for your attention!</a:t>
            </a:r>
            <a:endParaRPr b="1" i="1" sz="3300" u="sng">
              <a:solidFill>
                <a:srgbClr val="4A86E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